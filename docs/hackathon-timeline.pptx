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263140"/>
            <a:ext cx="1082009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1A1F36"/>
                </a:solidFill>
                <a:latin typeface="Noto Serif KR"/>
              </a:defRPr>
            </a:pPr>
            <a:r>
              <a:t>Million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429000"/>
            <a:ext cx="108200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5C6478"/>
                </a:solidFill>
                <a:latin typeface="Pretendard"/>
              </a:defRPr>
            </a:pPr>
            <a:r>
              <a:t>3시간 해커톤 개발 여정</a:t>
            </a:r>
            <a:br/>
            <a:r>
              <a:t>Claude Code Visual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829300"/>
            <a:ext cx="108200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5C6478"/>
                </a:solidFill>
                <a:latin typeface="Pretendard"/>
              </a:defRPr>
            </a:pPr>
            <a:r>
              <a:t>Team Million Agents  |  2026.01.24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8200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1A1F36"/>
                </a:solidFill>
                <a:latin typeface="Noto Serif KR"/>
              </a:defRPr>
            </a:pPr>
            <a:r>
              <a:t>해커톤 성과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400300"/>
            <a:ext cx="2430703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1A1F36"/>
                </a:solidFill>
                <a:latin typeface="Noto Serif KR"/>
              </a:defRPr>
            </a:pPr>
            <a:r>
              <a:t>3h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589020"/>
            <a:ext cx="2430703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5C6478"/>
                </a:solidFill>
                <a:latin typeface="Pretendard"/>
              </a:defRPr>
            </a:pPr>
            <a:r>
              <a:t>총 개발 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90823" y="2400300"/>
            <a:ext cx="2430703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1A1F36"/>
                </a:solidFill>
                <a:latin typeface="Noto Serif KR"/>
              </a:defRPr>
            </a:pPr>
            <a: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90823" y="3589020"/>
            <a:ext cx="2430703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5C6478"/>
                </a:solidFill>
                <a:latin typeface="Pretendard"/>
              </a:defRPr>
            </a:pPr>
            <a:r>
              <a:t>Git 커밋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7" y="2400300"/>
            <a:ext cx="2430703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1A1F36"/>
                </a:solidFill>
                <a:latin typeface="Noto Serif KR"/>
              </a:defRPr>
            </a:pPr>
            <a: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7" y="3589020"/>
            <a:ext cx="2430703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5C6478"/>
                </a:solidFill>
                <a:latin typeface="Pretendard"/>
              </a:defRPr>
            </a:pPr>
            <a:r>
              <a:t>개발 Phase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0871" y="2400300"/>
            <a:ext cx="2430703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1A1F36"/>
                </a:solidFill>
                <a:latin typeface="Noto Serif KR"/>
              </a:defRPr>
            </a:pPr>
            <a:r>
              <a:t>20+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00871" y="3589020"/>
            <a:ext cx="2430703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5C6478"/>
                </a:solidFill>
                <a:latin typeface="Pretendard"/>
              </a:defRPr>
            </a:pPr>
            <a:r>
              <a:t>세션 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606040"/>
            <a:ext cx="108200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5C6478"/>
                </a:solidFill>
                <a:latin typeface="Pretendard"/>
              </a:defRPr>
            </a:pPr>
            <a:r>
              <a:t>PHASE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086100"/>
            <a:ext cx="1082009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F8F9FC"/>
                </a:solidFill>
                <a:latin typeface="Noto Serif KR"/>
              </a:defRPr>
            </a:pPr>
            <a:r>
              <a:t>프로젝트 초기화</a:t>
            </a:r>
            <a:br/>
            <a:r>
              <a:t>13:38 - 14:15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8200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1A1F36"/>
                </a:solidFill>
                <a:latin typeface="Noto Serif KR"/>
              </a:defRPr>
            </a:pPr>
            <a:r>
              <a:t>Phase 1: 기획과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14500"/>
            <a:ext cx="5181447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1A1F36"/>
                </a:solidFill>
                <a:latin typeface="Noto Serif KR"/>
              </a:defRPr>
            </a:pPr>
            <a:r>
              <a:t>수행 작업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400300"/>
            <a:ext cx="518144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• CLAUDE.md 초기 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948940"/>
            <a:ext cx="518144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• 상세 기획서 작성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97580"/>
            <a:ext cx="518144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• UI 참조 이미지 수집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046220"/>
            <a:ext cx="518144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• 기술 스택 확정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1714500"/>
            <a:ext cx="5181447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1A1F36"/>
                </a:solidFill>
                <a:latin typeface="Noto Serif KR"/>
              </a:defRPr>
            </a:pPr>
            <a:r>
              <a:t>결정 사항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447" y="2400300"/>
            <a:ext cx="518144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• React + TypeScript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447" y="2948940"/>
            <a:ext cx="518144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• React Flow 노드 캔버스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447" y="3497580"/>
            <a:ext cx="518144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• 5가지 노드 타입 정의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447" y="4046220"/>
            <a:ext cx="518144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• 로컬호스트 실행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606040"/>
            <a:ext cx="108200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5C6478"/>
                </a:solidFill>
                <a:latin typeface="Pretendard"/>
              </a:defRPr>
            </a:pPr>
            <a:r>
              <a:t>PHASE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086100"/>
            <a:ext cx="1082009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F8F9FC"/>
                </a:solidFill>
                <a:latin typeface="Noto Serif KR"/>
              </a:defRPr>
            </a:pPr>
            <a:r>
              <a:t>초기 구현</a:t>
            </a:r>
            <a:br/>
            <a:r>
              <a:t>14:21 - 14:34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8200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1A1F36"/>
                </a:solidFill>
                <a:latin typeface="Noto Serif KR"/>
              </a:defRPr>
            </a:pPr>
            <a:r>
              <a:t>Phase 2: 핵심 기능 구현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3423818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A1F36"/>
                </a:solidFill>
                <a:latin typeface="Noto Serif KR"/>
              </a:defRPr>
            </a:pPr>
            <a:r>
              <a:t>프론트엔드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06040"/>
            <a:ext cx="3423818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5C6478"/>
                </a:solidFill>
                <a:latin typeface="Pretendard"/>
              </a:defRPr>
            </a:pPr>
            <a:r>
              <a:t>React Flow 기반</a:t>
            </a:r>
            <a:br/>
            <a:r>
              <a:t>노드 캔버스 구현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3938" y="1920240"/>
            <a:ext cx="3423818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A1F36"/>
                </a:solidFill>
                <a:latin typeface="Noto Serif KR"/>
              </a:defRPr>
            </a:pPr>
            <a:r>
              <a:t>백엔드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3938" y="2606040"/>
            <a:ext cx="3423818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5C6478"/>
                </a:solidFill>
                <a:latin typeface="Pretendard"/>
              </a:defRPr>
            </a:pPr>
            <a:r>
              <a:t>Express 서버</a:t>
            </a:r>
            <a:br/>
            <a:r>
              <a:t>API 엔드포인트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82076" y="1920240"/>
            <a:ext cx="3423818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A1F36"/>
                </a:solidFill>
                <a:latin typeface="Noto Serif KR"/>
              </a:defRPr>
            </a:pPr>
            <a:r>
              <a:t>협업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82076" y="2606040"/>
            <a:ext cx="3423818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5C6478"/>
                </a:solidFill>
                <a:latin typeface="Pretendard"/>
              </a:defRPr>
            </a:pPr>
            <a:r>
              <a:t>josh 브랜치 머지</a:t>
            </a:r>
            <a:br/>
            <a:r>
              <a:t>팀 작업 통합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606040"/>
            <a:ext cx="108200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5C6478"/>
                </a:solidFill>
                <a:latin typeface="Pretendard"/>
              </a:defRPr>
            </a:pPr>
            <a:r>
              <a:t>PHASE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086100"/>
            <a:ext cx="1082009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F8F9FC"/>
                </a:solidFill>
                <a:latin typeface="Noto Serif KR"/>
              </a:defRPr>
            </a:pPr>
            <a:r>
              <a:t>UI 개선</a:t>
            </a:r>
            <a:br/>
            <a:r>
              <a:t>14:41 - 15:00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8200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1A1F36"/>
                </a:solidFill>
                <a:latin typeface="Noto Serif KR"/>
              </a:defRPr>
            </a:pPr>
            <a:r>
              <a:t>Phase 3: 사용자 경험 향상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14500"/>
            <a:ext cx="5181447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1A1F36"/>
                </a:solidFill>
                <a:latin typeface="Noto Serif KR"/>
              </a:defRPr>
            </a:pPr>
            <a:r>
              <a:t>UI 개선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400300"/>
            <a:ext cx="518144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• 핸들 연결 피드백 개선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948940"/>
            <a:ext cx="518144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• memorialbanana 스타일 적용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97580"/>
            <a:ext cx="518144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• 노드 박스 디자인 개선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046220"/>
            <a:ext cx="518144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• 메뉴 구조 개편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1714500"/>
            <a:ext cx="5181447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1A1F36"/>
                </a:solidFill>
                <a:latin typeface="Noto Serif KR"/>
              </a:defRPr>
            </a:pPr>
            <a:r>
              <a:t>기능 추가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447" y="2400300"/>
            <a:ext cx="518144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• 저장/내보내기 구현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447" y="2948940"/>
            <a:ext cx="518144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• localStorage 연동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447" y="3497580"/>
            <a:ext cx="518144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• JSON 내보내기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447" y="4046220"/>
            <a:ext cx="518144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• git-commit-push 스킬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606040"/>
            <a:ext cx="108200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5C6478"/>
                </a:solidFill>
                <a:latin typeface="Pretendard"/>
              </a:defRPr>
            </a:pPr>
            <a:r>
              <a:t>PHASE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086100"/>
            <a:ext cx="1082009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F8F9FC"/>
                </a:solidFill>
                <a:latin typeface="Noto Serif KR"/>
              </a:defRPr>
            </a:pPr>
            <a:r>
              <a:t>AI 워크플로우</a:t>
            </a:r>
            <a:br/>
            <a:r>
              <a:t>15:00 - 15:20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8200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1A1F36"/>
                </a:solidFill>
                <a:latin typeface="Noto Serif KR"/>
              </a:defRPr>
            </a:pPr>
            <a:r>
              <a:t>Phase 4: AI 자동화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3423818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A1F36"/>
                </a:solidFill>
                <a:latin typeface="Noto Serif KR"/>
              </a:defRPr>
            </a:pPr>
            <a:r>
              <a:t>Gemini 연동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06040"/>
            <a:ext cx="3423818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5C6478"/>
                </a:solidFill>
                <a:latin typeface="Pretendard"/>
              </a:defRPr>
            </a:pPr>
            <a:r>
              <a:t>API 키 설정</a:t>
            </a:r>
            <a:br/>
            <a:r>
              <a:t>.env 파일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3938" y="1920240"/>
            <a:ext cx="3423818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A1F36"/>
                </a:solidFill>
                <a:latin typeface="Noto Serif KR"/>
              </a:defRPr>
            </a:pPr>
            <a:r>
              <a:t>워크플로우 생성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3938" y="2606040"/>
            <a:ext cx="3423818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5C6478"/>
                </a:solidFill>
                <a:latin typeface="Pretendard"/>
              </a:defRPr>
            </a:pPr>
            <a:r>
              <a:t>자연어 입력으로</a:t>
            </a:r>
            <a:br/>
            <a:r>
              <a:t>노드 자동 생성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82076" y="1920240"/>
            <a:ext cx="3423818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A1F36"/>
                </a:solidFill>
                <a:latin typeface="Noto Serif KR"/>
              </a:defRPr>
            </a:pPr>
            <a:r>
              <a:t>터미널 서비스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82076" y="2606040"/>
            <a:ext cx="3423818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5C6478"/>
                </a:solidFill>
                <a:latin typeface="Pretendard"/>
              </a:defRPr>
            </a:pPr>
            <a:r>
              <a:t>claude -c 연동</a:t>
            </a:r>
            <a:br/>
            <a:r>
              <a:t>실행 환경 구축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606040"/>
            <a:ext cx="108200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5C6478"/>
                </a:solidFill>
                <a:latin typeface="Pretendard"/>
              </a:defRPr>
            </a:pPr>
            <a:r>
              <a:t>PHASE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086100"/>
            <a:ext cx="1082009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F8F9FC"/>
                </a:solidFill>
                <a:latin typeface="Noto Serif KR"/>
              </a:defRPr>
            </a:pPr>
            <a:r>
              <a:t>실행 엔진</a:t>
            </a:r>
            <a:br/>
            <a:r>
              <a:t>15:20 - 16:00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8200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1A1F36"/>
                </a:solidFill>
                <a:latin typeface="Noto Serif KR"/>
              </a:defRPr>
            </a:pPr>
            <a:r>
              <a:t>Phase 5: 워크플로우 실행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14500"/>
            <a:ext cx="5181447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1A1F36"/>
                </a:solidFill>
                <a:latin typeface="Noto Serif KR"/>
              </a:defRPr>
            </a:pPr>
            <a:r>
              <a:t>실행 로직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400300"/>
            <a:ext cx="518144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• 토폴로지 정렬 알고리즘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948940"/>
            <a:ext cx="518144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• 병렬 실행 지원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97580"/>
            <a:ext cx="518144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• RUN 버튼 구현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046220"/>
            <a:ext cx="518144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• 실시간 상태 표시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1714500"/>
            <a:ext cx="5181447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1A1F36"/>
                </a:solidFill>
                <a:latin typeface="Noto Serif KR"/>
              </a:defRPr>
            </a:pPr>
            <a:r>
              <a:t>레이아웃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447" y="2400300"/>
            <a:ext cx="518144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• 트리 자동 정렬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447" y="2948940"/>
            <a:ext cx="518144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• 노드 위치 최적화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447" y="3497580"/>
            <a:ext cx="518144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• PptxGenJS 버그 수정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447" y="4046220"/>
            <a:ext cx="518144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• UI 마무리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606040"/>
            <a:ext cx="108200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5C6478"/>
                </a:solidFill>
                <a:latin typeface="Pretendard"/>
              </a:defRPr>
            </a:pPr>
            <a:r>
              <a:t>PHASE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086100"/>
            <a:ext cx="1082009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F8F9FC"/>
                </a:solidFill>
                <a:latin typeface="Noto Serif KR"/>
              </a:defRPr>
            </a:pPr>
            <a:r>
              <a:t>문서화 &amp; 마무리</a:t>
            </a:r>
            <a:br/>
            <a:r>
              <a:t>16:19 - 16:24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8200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1A1F36"/>
                </a:solidFill>
                <a:latin typeface="Noto Serif KR"/>
              </a:defRPr>
            </a:pPr>
            <a:r>
              <a:t>Phase 6: 프로젝트 완성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3423818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A1F36"/>
                </a:solidFill>
                <a:latin typeface="Noto Serif KR"/>
              </a:defRPr>
            </a:pPr>
            <a:r>
              <a:t>문서화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06040"/>
            <a:ext cx="3423818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5C6478"/>
                </a:solidFill>
                <a:latin typeface="Pretendard"/>
              </a:defRPr>
            </a:pPr>
            <a:r>
              <a:t>README 작성</a:t>
            </a:r>
            <a:br/>
            <a:r>
              <a:t>스크린샷 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3938" y="1920240"/>
            <a:ext cx="3423818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A1F36"/>
                </a:solidFill>
                <a:latin typeface="Noto Serif KR"/>
              </a:defRPr>
            </a:pPr>
            <a:r>
              <a:t>패키징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3938" y="2606040"/>
            <a:ext cx="3423818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5C6478"/>
                </a:solidFill>
                <a:latin typeface="Pretendard"/>
              </a:defRPr>
            </a:pPr>
            <a:r>
              <a:t>Claude Code</a:t>
            </a:r>
            <a:br/>
            <a:r>
              <a:t>플러그인 형태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82076" y="1920240"/>
            <a:ext cx="3423818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A1F36"/>
                </a:solidFill>
                <a:latin typeface="Noto Serif KR"/>
              </a:defRPr>
            </a:pPr>
            <a:r>
              <a:t>배포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82076" y="2606040"/>
            <a:ext cx="3423818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5C6478"/>
                </a:solidFill>
                <a:latin typeface="Pretendard"/>
              </a:defRPr>
            </a:pPr>
            <a:r>
              <a:t>visual-builder</a:t>
            </a:r>
            <a:br/>
            <a:r>
              <a:t>스킬 등록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8200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1A1F36"/>
                </a:solidFill>
                <a:latin typeface="Noto Serif KR"/>
              </a:defRPr>
            </a:pPr>
            <a:r>
              <a:t>최종 구현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400300"/>
            <a:ext cx="2430703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1A1F36"/>
                </a:solidFill>
                <a:latin typeface="Noto Serif KR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589020"/>
            <a:ext cx="2430703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5C6478"/>
                </a:solidFill>
                <a:latin typeface="Pretendard"/>
              </a:defRPr>
            </a:pPr>
            <a:r>
              <a:t>노드 타입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90823" y="2400300"/>
            <a:ext cx="2430703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1A1F36"/>
                </a:solidFill>
                <a:latin typeface="Noto Serif KR"/>
              </a:defRPr>
            </a:pPr>
            <a:r>
              <a:t>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90823" y="3589020"/>
            <a:ext cx="2430703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5C6478"/>
                </a:solidFill>
                <a:latin typeface="Pretendard"/>
              </a:defRPr>
            </a:pPr>
            <a:r>
              <a:t>워크플로우 생성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7" y="2400300"/>
            <a:ext cx="2430703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1A1F36"/>
                </a:solidFill>
                <a:latin typeface="Noto Serif KR"/>
              </a:defRPr>
            </a:pPr>
            <a:r>
              <a:t>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7" y="3589020"/>
            <a:ext cx="2430703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5C6478"/>
                </a:solidFill>
                <a:latin typeface="Pretendard"/>
              </a:defRPr>
            </a:pPr>
            <a:r>
              <a:t>실행 엔진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0871" y="2400300"/>
            <a:ext cx="2430703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1A1F36"/>
                </a:solidFill>
                <a:latin typeface="Noto Serif KR"/>
              </a:defRPr>
            </a:pPr>
            <a:r>
              <a:t>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00871" y="3589020"/>
            <a:ext cx="2430703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5C6478"/>
                </a:solidFill>
                <a:latin typeface="Pretendard"/>
              </a:defRPr>
            </a:pPr>
            <a:r>
              <a:t>저장/불러오기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606040"/>
            <a:ext cx="1082009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1A1F36"/>
                </a:solidFill>
                <a:latin typeface="Noto Serif KR"/>
              </a:defRPr>
            </a:pPr>
            <a:r>
              <a:t>3시간의 해커톤</a:t>
            </a:r>
            <a:br/>
            <a:r>
              <a:t>24개의 커밋으로 완성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977639"/>
            <a:ext cx="108200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5C6478"/>
                </a:solidFill>
                <a:latin typeface="Pretendard"/>
              </a:defRPr>
            </a:pPr>
            <a:r>
              <a:t>github.com/anthropics/million-agents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